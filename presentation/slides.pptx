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47A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Expense Approval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</a:rPr>
              <a:t>Azure Durable Functions  vs  Logic Apps + Service 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Damis Gabriel Manfouo  |  CST8917 — Serverless Applications  |  Algonquin College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22222"/>
                </a:solidFill>
              </a:rPr>
              <a:t>• Automate employee expense approvals end-to-end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22222"/>
                </a:solidFill>
              </a:rPr>
              <a:t>• Support three outcomes: Auto-Approved, Manager Approved/Rejected, Escalated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22222"/>
                </a:solidFill>
              </a:rPr>
              <a:t>• Notify employees by email for every outcome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49039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22222"/>
                </a:solidFill>
              </a:rPr>
              <a:t>• Compare two Azure serverless approaches for the same workflow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Version A — Azure Durable Functions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47AB"/>
                </a:solidFill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</a:rPr>
              <a:t>HTTP Client  →  Orchestrator  →  validate_expense  →  process_expense  →  notify_employee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7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47AB"/>
                </a:solidFill>
              </a:rPr>
              <a:t>Key Design Decisions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346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</a:rPr>
              <a:t>• Human Interaction Pattern: race timer vs. ManagerDecision external event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74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</a:rPr>
              <a:t>• Timer fires → status = Escalated (no manager response)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148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</a:rPr>
              <a:t>• Manager calls POST /api/expense/{instanceId}/respond → approved or rejected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54879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</a:rPr>
              <a:t>• Real email via Azure Communication Services (ACS)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Version B — Logic Apps + Service 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47AB"/>
                </a:solidFill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</a:rPr>
              <a:t>Service Bus Queue  →  Logic App  →  Validation Function  →  Condition  →  expense-outcomes Topic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7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47AB"/>
                </a:solidFill>
              </a:rPr>
              <a:t>Key Design Decisions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346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22222"/>
                </a:solidFill>
              </a:rPr>
              <a:t>• Trigger: Service Bus queue 'expense-requests' (auto-complete)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29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22222"/>
                </a:solidFill>
              </a:rPr>
              <a:t>• Validation: Azure Function returns {valid, data} — Logic App branches on valid field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0233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22222"/>
                </a:solidFill>
              </a:rPr>
              <a:t>• Manager approval: Send Approval Email (V2) with PT2M timeout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617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22222"/>
                </a:solidFill>
              </a:rPr>
              <a:t>• Scope wraps approve/reject branch; Send message 4 runs when Scope is skipped (timeout)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212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22222"/>
                </a:solidFill>
              </a:rPr>
              <a:t>• Outcomes published to 'expense-outcomes' topic with labels: approved / rejected / escalated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2560320" cy="502920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34440"/>
            <a:ext cx="2468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Dimension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1188720"/>
            <a:ext cx="4114800" cy="502920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71800" y="123444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Durable Functions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0" y="1188720"/>
            <a:ext cx="4114800" cy="502920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78040" y="123444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Logic Apps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691640"/>
            <a:ext cx="2560320" cy="502920"/>
          </a:xfrm>
          <a:prstGeom prst="rect">
            <a:avLst/>
          </a:prstGeom>
          <a:solidFill>
            <a:srgbClr val="E8F0F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737360"/>
            <a:ext cx="2468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</a:rPr>
              <a:t>Dev Experience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26080" y="1691640"/>
            <a:ext cx="4114800" cy="502920"/>
          </a:xfrm>
          <a:prstGeom prst="rect">
            <a:avLst/>
          </a:prstGeom>
          <a:solidFill>
            <a:srgbClr val="E8F0F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71800" y="173736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</a:rPr>
              <a:t>Code-first, full IDE support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0" y="1691640"/>
            <a:ext cx="4114800" cy="502920"/>
          </a:xfrm>
          <a:prstGeom prst="rect">
            <a:avLst/>
          </a:prstGeom>
          <a:solidFill>
            <a:srgbClr val="E8F0F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78040" y="173736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</a:rPr>
              <a:t>Visual designer, low-code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194560"/>
            <a:ext cx="25603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240280"/>
            <a:ext cx="2468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</a:rPr>
              <a:t>Testability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26080" y="2194560"/>
            <a:ext cx="41148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71800" y="224028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</a:rPr>
              <a:t>Local func start, unit tests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0" y="2194560"/>
            <a:ext cx="41148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78040" y="224028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</a:rPr>
              <a:t>Requires Azure, run history only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697480"/>
            <a:ext cx="2560320" cy="502920"/>
          </a:xfrm>
          <a:prstGeom prst="rect">
            <a:avLst/>
          </a:prstGeom>
          <a:solidFill>
            <a:srgbClr val="E8F0F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2743200"/>
            <a:ext cx="2468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</a:rPr>
              <a:t>Human Interaction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26080" y="2697480"/>
            <a:ext cx="4114800" cy="502920"/>
          </a:xfrm>
          <a:prstGeom prst="rect">
            <a:avLst/>
          </a:prstGeom>
          <a:solidFill>
            <a:srgbClr val="E8F0F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71800" y="274320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</a:rPr>
              <a:t>External event + durable timer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20" y="2697480"/>
            <a:ext cx="4114800" cy="502920"/>
          </a:xfrm>
          <a:prstGeom prst="rect">
            <a:avLst/>
          </a:prstGeom>
          <a:solidFill>
            <a:srgbClr val="E8F0F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78040" y="274320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</a:rPr>
              <a:t>Send Approval Email + timeout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3200400"/>
            <a:ext cx="25603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3246120"/>
            <a:ext cx="2468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</a:rPr>
              <a:t>Error Handling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26080" y="3200400"/>
            <a:ext cx="41148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71800" y="324612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</a:rPr>
              <a:t>Full control via code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32320" y="3200400"/>
            <a:ext cx="41148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78040" y="324612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</a:rPr>
              <a:t>Configure run after settings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3703320"/>
            <a:ext cx="2560320" cy="502920"/>
          </a:xfrm>
          <a:prstGeom prst="rect">
            <a:avLst/>
          </a:prstGeom>
          <a:solidFill>
            <a:srgbClr val="E8F0F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0040" y="3749039"/>
            <a:ext cx="2468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</a:rPr>
              <a:t>Observability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26080" y="3703320"/>
            <a:ext cx="4114800" cy="502920"/>
          </a:xfrm>
          <a:prstGeom prst="rect">
            <a:avLst/>
          </a:prstGeom>
          <a:solidFill>
            <a:srgbClr val="E8F0F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971800" y="3749039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</a:rPr>
              <a:t>App Insights, detailed logs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132320" y="3703320"/>
            <a:ext cx="4114800" cy="502920"/>
          </a:xfrm>
          <a:prstGeom prst="rect">
            <a:avLst/>
          </a:prstGeom>
          <a:solidFill>
            <a:srgbClr val="E8F0F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78040" y="3749039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</a:rPr>
              <a:t>Visual run history per step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4206240"/>
            <a:ext cx="25603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0040" y="4251960"/>
            <a:ext cx="2468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</a:rPr>
              <a:t>Cost (100/day)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926080" y="4206240"/>
            <a:ext cx="41148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971800" y="425196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</a:rPr>
              <a:t>Low — consumption plan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132320" y="4206240"/>
            <a:ext cx="41148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78040" y="425196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</a:rPr>
              <a:t>Low — per action pricing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Key Challenges &amp; Lessons Learned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47AB"/>
                </a:solidFill>
              </a:rPr>
              <a:t>Version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39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</a:rPr>
              <a:t>• azure-durable-functions not found → correct package is azure-functions-durable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48839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</a:rPr>
              <a:t>• approval_task.result returns JSON string → must parse with json.loads()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39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</a:rPr>
              <a:t>• Missing extensionBundle in host.json → durable bindings not registered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461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47AB"/>
                </a:solidFill>
              </a:rPr>
              <a:t>Version 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57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</a:rPr>
              <a:t>• Logic Apps rejects custom routes → fix: @app.route(route='') with @app.function_name()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114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</a:rPr>
              <a:t>• Service Bus delivers base64 content → Compose step needed to decode before function call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</a:rPr>
              <a:t>• Condition boolean vs string: valid=True fails → must use equals(body,true) expression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</a:rPr>
              <a:t>• Validation failure response had no data field → updated function to always return 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47AB"/>
                </a:solidFill>
              </a:rPr>
              <a:t>Choose Logic Apps when: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</a:rPr>
              <a:t>• Team prefers low-code / visual workflows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</a:rPr>
              <a:t>• Rapid prototyping without writing infrastructure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34639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</a:rPr>
              <a:t>• Built-in connectors (Outlook, Service Bus) cover the use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47AB"/>
                </a:solidFill>
              </a:rPr>
              <a:t>Choose Durable Functions when: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931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</a:rPr>
              <a:t>• Complex branching logic requiring full code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480559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</a:rPr>
              <a:t>• Local testing and CI/CD pipelines are a priority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</a:rPr>
              <a:t>• Team is comfortable with Python and Azure Functions SDK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47A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Demo Video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</a:rPr>
              <a:t>See video link in presentation/video-link.md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Damis Gabriel Manfouo  |  CST8917  |  Algonquin College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